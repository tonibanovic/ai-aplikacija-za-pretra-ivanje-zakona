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72" y="-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87010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94853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66586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17490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670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178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946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29970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578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7397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07845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320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5888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20065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44371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81907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89103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FE1618C-22B0-46C4-A1F1-7F3BDBF595B4}" type="datetimeFigureOut">
              <a:rPr lang="hr-HR" smtClean="0"/>
              <a:t>22.07.26.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99BC1-E12A-4122-89AF-6C0C34B9FF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956199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  <p:sldLayoutId id="2147483922" r:id="rId12"/>
    <p:sldLayoutId id="2147483923" r:id="rId13"/>
    <p:sldLayoutId id="2147483924" r:id="rId14"/>
    <p:sldLayoutId id="2147483925" r:id="rId15"/>
    <p:sldLayoutId id="2147483926" r:id="rId16"/>
    <p:sldLayoutId id="214748392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0838" y="1244030"/>
            <a:ext cx="8825658" cy="3329581"/>
          </a:xfrm>
        </p:spPr>
        <p:txBody>
          <a:bodyPr>
            <a:normAutofit fontScale="90000"/>
          </a:bodyPr>
          <a:lstStyle/>
          <a:p>
            <a:r>
              <a:rPr lang="hr-HR" dirty="0" smtClean="0"/>
              <a:t>AI sustav za semantičko pretraživanje zakonskih tekstova</a:t>
            </a:r>
            <a:endParaRPr lang="hr-H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0838" y="4450197"/>
            <a:ext cx="8825658" cy="861420"/>
          </a:xfrm>
        </p:spPr>
        <p:txBody>
          <a:bodyPr/>
          <a:lstStyle/>
          <a:p>
            <a:r>
              <a:rPr lang="sv-SE" dirty="0" smtClean="0"/>
              <a:t>Primjena RAG arhitekture i velikih jezičnih modela u pravnoj domeni</a:t>
            </a:r>
            <a:endParaRPr lang="hr-H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708" y="6041985"/>
            <a:ext cx="1768542" cy="7233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48288" y="6403652"/>
            <a:ext cx="4870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 smtClean="0"/>
              <a:t>Fakultet elektrotehnike, strojarstva i brodogradnje</a:t>
            </a:r>
            <a:endParaRPr lang="hr-HR" dirty="0"/>
          </a:p>
        </p:txBody>
      </p:sp>
      <p:sp>
        <p:nvSpPr>
          <p:cNvPr id="7" name="TextBox 6"/>
          <p:cNvSpPr txBox="1"/>
          <p:nvPr/>
        </p:nvSpPr>
        <p:spPr>
          <a:xfrm>
            <a:off x="307571" y="5257799"/>
            <a:ext cx="43347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 smtClean="0"/>
              <a:t>Ime i prezime izlagača: Toni Banović</a:t>
            </a:r>
          </a:p>
          <a:p>
            <a:r>
              <a:rPr lang="hr-HR" dirty="0" smtClean="0"/>
              <a:t>Mentor: izv. prof. dr. </a:t>
            </a:r>
            <a:r>
              <a:rPr lang="hr-HR" dirty="0" err="1" smtClean="0"/>
              <a:t>sc</a:t>
            </a:r>
            <a:r>
              <a:rPr lang="hr-HR" dirty="0" smtClean="0"/>
              <a:t>. Ana </a:t>
            </a:r>
            <a:r>
              <a:rPr lang="hr-HR" dirty="0" err="1" smtClean="0"/>
              <a:t>Kuzmanić</a:t>
            </a:r>
            <a:r>
              <a:rPr lang="hr-HR" dirty="0" smtClean="0"/>
              <a:t> </a:t>
            </a:r>
            <a:r>
              <a:rPr lang="hr-HR" dirty="0" err="1" smtClean="0"/>
              <a:t>Skelin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7705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hr-HR" b="1" dirty="0" smtClean="0"/>
              <a:t>Motivacija i problem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Problem: Količina zakonskih propisa neprestano raste; klasična pretraživanja po ključnim riječima zahtijevaju poznavanje striktne pravne terminologije.</a:t>
            </a:r>
          </a:p>
          <a:p>
            <a:r>
              <a:rPr lang="hr-HR" dirty="0" smtClean="0"/>
              <a:t>Ograničenja LLM-a: Veliki jezični modeli su snažni, ali pate od halucinacija i nemaju uvid u specifične, ažurne lokalne zakone.</a:t>
            </a:r>
          </a:p>
          <a:p>
            <a:r>
              <a:rPr lang="hr-HR" dirty="0" smtClean="0"/>
              <a:t>Cilj: Razvoj dokaza koncepta (</a:t>
            </a:r>
            <a:r>
              <a:rPr lang="hr-HR" dirty="0" err="1" smtClean="0"/>
              <a:t>PoC</a:t>
            </a:r>
            <a:r>
              <a:rPr lang="hr-HR" dirty="0" smtClean="0"/>
              <a:t>) inteligentnog sustava za brzo i precizno pretraživanje zakonskih tekstova na prirodnom jeziku.</a:t>
            </a:r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4666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smtClean="0"/>
              <a:t>2. Temeljne tehnologije i alati</a:t>
            </a:r>
            <a:endParaRPr lang="hr-HR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2718434"/>
              </p:ext>
            </p:extLst>
          </p:nvPr>
        </p:nvGraphicFramePr>
        <p:xfrm>
          <a:off x="792129" y="1474557"/>
          <a:ext cx="10515600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70840">
                <a:tc>
                  <a:txBody>
                    <a:bodyPr/>
                    <a:lstStyle/>
                    <a:p>
                      <a:r>
                        <a:rPr lang="hr-HR" dirty="0" smtClean="0"/>
                        <a:t>Sloj sustava/Komponenta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Tehnologija</a:t>
                      </a:r>
                      <a:r>
                        <a:rPr lang="hr-HR" baseline="0" dirty="0" smtClean="0"/>
                        <a:t>/Alat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Ključna</a:t>
                      </a:r>
                      <a:r>
                        <a:rPr lang="hr-HR" baseline="0" dirty="0" smtClean="0"/>
                        <a:t> uloga u projektu</a:t>
                      </a:r>
                      <a:endParaRPr lang="hr-H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 smtClean="0"/>
                        <a:t>Korisničko sučelje (</a:t>
                      </a:r>
                      <a:r>
                        <a:rPr lang="hr-HR" dirty="0" err="1" smtClean="0"/>
                        <a:t>Frontend</a:t>
                      </a:r>
                      <a:r>
                        <a:rPr lang="hr-HR" dirty="0" smtClean="0"/>
                        <a:t>)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err="1" smtClean="0"/>
                        <a:t>React</a:t>
                      </a:r>
                      <a:r>
                        <a:rPr lang="hr-HR" dirty="0" smtClean="0"/>
                        <a:t>(</a:t>
                      </a:r>
                      <a:r>
                        <a:rPr lang="hr-HR" dirty="0" err="1" smtClean="0"/>
                        <a:t>JavaScript</a:t>
                      </a:r>
                      <a:r>
                        <a:rPr lang="hr-HR" dirty="0" smtClean="0"/>
                        <a:t>/SPA)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Prikaz</a:t>
                      </a:r>
                      <a:r>
                        <a:rPr lang="hr-HR" baseline="0" dirty="0" smtClean="0"/>
                        <a:t> chata, upravljanje sesijama i interaktivne kartice izvora</a:t>
                      </a:r>
                      <a:endParaRPr lang="hr-H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 smtClean="0"/>
                        <a:t>Poslužiteljski dio (</a:t>
                      </a:r>
                      <a:r>
                        <a:rPr lang="hr-HR" dirty="0" err="1" smtClean="0"/>
                        <a:t>Backend</a:t>
                      </a:r>
                      <a:r>
                        <a:rPr lang="hr-HR" dirty="0" smtClean="0"/>
                        <a:t>)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mtClean="0"/>
                        <a:t>Python, FastAPI</a:t>
                      </a:r>
                      <a:endParaRPr lang="hr-H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err="1" smtClean="0"/>
                        <a:t>Asinkorni</a:t>
                      </a:r>
                      <a:r>
                        <a:rPr lang="hr-HR" dirty="0" smtClean="0"/>
                        <a:t> API, obrada upita i upravljanje komunikacijom s bazom</a:t>
                      </a:r>
                      <a:endParaRPr lang="hr-H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 smtClean="0"/>
                        <a:t>Umjetna</a:t>
                      </a:r>
                      <a:r>
                        <a:rPr lang="hr-HR" baseline="0" dirty="0" smtClean="0"/>
                        <a:t> inteligencija (LLM)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Meta</a:t>
                      </a:r>
                      <a:r>
                        <a:rPr lang="hr-HR" baseline="0" dirty="0" smtClean="0"/>
                        <a:t> </a:t>
                      </a:r>
                      <a:r>
                        <a:rPr lang="hr-HR" baseline="0" dirty="0" err="1" smtClean="0"/>
                        <a:t>Llama</a:t>
                      </a:r>
                      <a:r>
                        <a:rPr lang="hr-HR" baseline="0" dirty="0" smtClean="0"/>
                        <a:t> 3.1(8B) putem </a:t>
                      </a:r>
                      <a:r>
                        <a:rPr lang="hr-HR" baseline="0" dirty="0" err="1" smtClean="0"/>
                        <a:t>Groq</a:t>
                      </a:r>
                      <a:r>
                        <a:rPr lang="hr-HR" baseline="0" dirty="0" smtClean="0"/>
                        <a:t> API-ja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Generiranje</a:t>
                      </a:r>
                      <a:r>
                        <a:rPr lang="hr-HR" baseline="0" dirty="0" smtClean="0"/>
                        <a:t> odgovora na temelju konteksta</a:t>
                      </a:r>
                      <a:endParaRPr lang="hr-H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 smtClean="0"/>
                        <a:t>Baze podataka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err="1" smtClean="0"/>
                        <a:t>ChromaDB</a:t>
                      </a:r>
                      <a:r>
                        <a:rPr lang="hr-HR" dirty="0" smtClean="0"/>
                        <a:t> + </a:t>
                      </a:r>
                      <a:r>
                        <a:rPr lang="hr-HR" dirty="0" err="1" smtClean="0"/>
                        <a:t>SQLite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/>
                        <a:t>Vektorska baza za semantičko pretraživanje zakona + </a:t>
                      </a:r>
                      <a:r>
                        <a:rPr lang="hr-HR" dirty="0" err="1" smtClean="0"/>
                        <a:t>SQLite</a:t>
                      </a:r>
                      <a:r>
                        <a:rPr lang="hr-HR" baseline="0" dirty="0" smtClean="0"/>
                        <a:t> za </a:t>
                      </a:r>
                      <a:r>
                        <a:rPr lang="hr-HR" baseline="0" dirty="0" err="1" smtClean="0"/>
                        <a:t>perzistenciju</a:t>
                      </a:r>
                      <a:r>
                        <a:rPr lang="hr-HR" baseline="0" dirty="0" smtClean="0"/>
                        <a:t> sesija</a:t>
                      </a:r>
                      <a:endParaRPr lang="hr-H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r-HR" smtClean="0"/>
                        <a:t>Infrastruktura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err="1" smtClean="0"/>
                        <a:t>Docker</a:t>
                      </a:r>
                      <a:r>
                        <a:rPr lang="hr-HR" dirty="0" smtClean="0"/>
                        <a:t> &amp;</a:t>
                      </a:r>
                      <a:r>
                        <a:rPr lang="hr-HR" baseline="0" dirty="0" smtClean="0"/>
                        <a:t> </a:t>
                      </a:r>
                      <a:r>
                        <a:rPr lang="hr-HR" baseline="0" dirty="0" err="1" smtClean="0"/>
                        <a:t>Docker</a:t>
                      </a:r>
                      <a:r>
                        <a:rPr lang="hr-HR" baseline="0" dirty="0" smtClean="0"/>
                        <a:t> </a:t>
                      </a:r>
                      <a:r>
                        <a:rPr lang="hr-HR" baseline="0" dirty="0" err="1" smtClean="0"/>
                        <a:t>Compose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err="1" smtClean="0"/>
                        <a:t>Kontejnerizacija</a:t>
                      </a:r>
                      <a:r>
                        <a:rPr lang="hr-HR" dirty="0" smtClean="0"/>
                        <a:t> okruženja za</a:t>
                      </a:r>
                      <a:r>
                        <a:rPr lang="hr-HR" baseline="0" dirty="0" smtClean="0"/>
                        <a:t> jednostavno pokretanje i izolaciju servisa</a:t>
                      </a:r>
                      <a:endParaRPr lang="hr-H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01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smtClean="0"/>
              <a:t>3. </a:t>
            </a:r>
            <a:r>
              <a:rPr lang="hr-HR" b="1" dirty="0" err="1" smtClean="0"/>
              <a:t>Arhiektura</a:t>
            </a:r>
            <a:r>
              <a:rPr lang="hr-HR" b="1" dirty="0" smtClean="0"/>
              <a:t> sustava (RAG koncept)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r-HR" dirty="0" smtClean="0"/>
              <a:t>Pristup koji nastoji kombinirati preciznost pronalaženja informacija iz baza podataka i fleksibilnost jezičnih modela, s ciljem ublažavanja problema halucinacija.</a:t>
            </a:r>
          </a:p>
          <a:p>
            <a:r>
              <a:rPr lang="hr-HR" dirty="0" smtClean="0"/>
              <a:t>Glavni dio (3 ključna koraka):</a:t>
            </a:r>
          </a:p>
          <a:p>
            <a:pPr marL="971550" lvl="1" indent="-514350">
              <a:buFont typeface="+mj-lt"/>
              <a:buAutoNum type="arabicPeriod"/>
            </a:pPr>
            <a:r>
              <a:rPr lang="hr-HR" dirty="0" smtClean="0"/>
              <a:t>Dohvat (</a:t>
            </a:r>
            <a:r>
              <a:rPr lang="hr-HR" dirty="0" err="1" smtClean="0"/>
              <a:t>Retrieval</a:t>
            </a:r>
            <a:r>
              <a:rPr lang="hr-HR" dirty="0" smtClean="0"/>
              <a:t>): Korisnikov se upit pretvara u vektor, nakon čega se iz </a:t>
            </a:r>
            <a:r>
              <a:rPr lang="hr-HR" dirty="0" err="1" smtClean="0"/>
              <a:t>ChromaDB</a:t>
            </a:r>
            <a:r>
              <a:rPr lang="hr-HR" dirty="0" smtClean="0"/>
              <a:t>-a uglavnom dohvaćaju dijelovi zakona koji bi trebali biti semantički najbliži traženom pojmu.</a:t>
            </a:r>
          </a:p>
          <a:p>
            <a:pPr marL="971550" lvl="1" indent="-514350">
              <a:buFont typeface="+mj-lt"/>
              <a:buAutoNum type="arabicPeriod"/>
            </a:pPr>
            <a:r>
              <a:rPr lang="hr-HR" dirty="0" smtClean="0"/>
              <a:t>Injekcija konteksta (</a:t>
            </a:r>
            <a:r>
              <a:rPr lang="hr-HR" dirty="0" err="1" smtClean="0"/>
              <a:t>Augmentation</a:t>
            </a:r>
            <a:r>
              <a:rPr lang="hr-HR" dirty="0" smtClean="0"/>
              <a:t>): Dohvaćeni članci se privremeno umeću u sistemski </a:t>
            </a:r>
            <a:r>
              <a:rPr lang="hr-HR" dirty="0" err="1" smtClean="0"/>
              <a:t>prompt</a:t>
            </a:r>
            <a:r>
              <a:rPr lang="hr-HR" dirty="0" smtClean="0"/>
              <a:t> uz izvorni korisnički upit, kako bi model imao uvid u službeni pravni izvor.</a:t>
            </a:r>
          </a:p>
          <a:p>
            <a:pPr marL="971550" lvl="1" indent="-514350">
              <a:buFont typeface="+mj-lt"/>
              <a:buAutoNum type="arabicPeriod"/>
            </a:pPr>
            <a:r>
              <a:rPr lang="hr-HR" dirty="0" smtClean="0"/>
              <a:t>Generiranje (</a:t>
            </a:r>
            <a:r>
              <a:rPr lang="hr-HR" dirty="0" err="1" smtClean="0"/>
              <a:t>Generation</a:t>
            </a:r>
            <a:r>
              <a:rPr lang="hr-HR" dirty="0" smtClean="0"/>
              <a:t>): Jezični model (</a:t>
            </a:r>
            <a:r>
              <a:rPr lang="hr-HR" dirty="0" err="1" smtClean="0"/>
              <a:t>Llama</a:t>
            </a:r>
            <a:r>
              <a:rPr lang="hr-HR" dirty="0" smtClean="0"/>
              <a:t> 3.1) nastoji oblikovati odgovor temeljem priloženog konteksta, uz ograničenja koja mu propisuju unesene sistemske upute.</a:t>
            </a:r>
          </a:p>
          <a:p>
            <a:pPr marL="971550" lvl="1" indent="-514350">
              <a:buFont typeface="+mj-lt"/>
              <a:buAutoNum type="arabicPeriod"/>
            </a:pPr>
            <a:endParaRPr lang="hr-HR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0841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77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smtClean="0"/>
              <a:t>3.1. Konceptualna arhitektura i tok podataka</a:t>
            </a:r>
            <a:endParaRPr lang="hr-HR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972" y="1853248"/>
            <a:ext cx="5723809" cy="45047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834" y="5996343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7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smtClean="0"/>
              <a:t>4. Priprema podataka i obrada pravnog korpusa (</a:t>
            </a:r>
            <a:r>
              <a:rPr lang="hr-HR" b="1" dirty="0" err="1" smtClean="0"/>
              <a:t>Ingestion</a:t>
            </a:r>
            <a:r>
              <a:rPr lang="hr-HR" b="1" dirty="0" smtClean="0"/>
              <a:t>)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Izvori: Zakon o radu, zaštita potrošača, državni blagdani (s portala Zakon.hr / Narodne novine).</a:t>
            </a:r>
          </a:p>
          <a:p>
            <a:r>
              <a:rPr lang="hr-HR" dirty="0" smtClean="0"/>
              <a:t>Inženjerski izazovi:</a:t>
            </a:r>
          </a:p>
          <a:p>
            <a:pPr lvl="1"/>
            <a:r>
              <a:rPr lang="hr-HR" dirty="0" smtClean="0"/>
              <a:t>Automatsko rješavanje kodiranja (podrška za UTF-8 i CP1250 radi ispravnih hrvatskih dijakritika: č, ć, đ, š, ž).  </a:t>
            </a:r>
          </a:p>
          <a:p>
            <a:pPr lvl="1"/>
            <a:r>
              <a:rPr lang="hr-HR" dirty="0" smtClean="0"/>
              <a:t>Pametna segmentacija (</a:t>
            </a:r>
            <a:r>
              <a:rPr lang="hr-HR" dirty="0" err="1" smtClean="0"/>
              <a:t>chunking</a:t>
            </a:r>
            <a:r>
              <a:rPr lang="hr-HR" dirty="0" smtClean="0"/>
              <a:t>) - dijeljenje teksta isključivo na granicama službenih članaka zakona (upotrebom regularnih izraza) kako bi se očuvao pravni smisao. </a:t>
            </a:r>
            <a:endParaRPr lang="hr-HR" dirty="0"/>
          </a:p>
          <a:p>
            <a:pPr marL="0" indent="0">
              <a:buNone/>
            </a:pPr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6402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5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b="1" dirty="0" smtClean="0"/>
              <a:t>5. Implementacija </a:t>
            </a:r>
            <a:r>
              <a:rPr lang="hr-HR" b="1" dirty="0" err="1" smtClean="0"/>
              <a:t>backenda</a:t>
            </a:r>
            <a:r>
              <a:rPr lang="hr-HR" b="1" dirty="0" smtClean="0"/>
              <a:t> i usmjeravanje modela (</a:t>
            </a:r>
            <a:r>
              <a:rPr lang="hr-HR" b="1" dirty="0" err="1" smtClean="0"/>
              <a:t>Prompt</a:t>
            </a:r>
            <a:r>
              <a:rPr lang="hr-HR" b="1" dirty="0" smtClean="0"/>
              <a:t> </a:t>
            </a:r>
            <a:r>
              <a:rPr lang="hr-HR" b="1" dirty="0" err="1" smtClean="0"/>
              <a:t>Engineering</a:t>
            </a:r>
            <a:r>
              <a:rPr lang="hr-HR" b="1" dirty="0" smtClean="0"/>
              <a:t>)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2418678"/>
            <a:ext cx="8946541" cy="4195481"/>
          </a:xfrm>
        </p:spPr>
        <p:txBody>
          <a:bodyPr>
            <a:normAutofit/>
          </a:bodyPr>
          <a:lstStyle/>
          <a:p>
            <a:r>
              <a:rPr lang="hr-HR" dirty="0" err="1" smtClean="0"/>
              <a:t>FastAPI</a:t>
            </a:r>
            <a:r>
              <a:rPr lang="hr-HR" dirty="0" smtClean="0"/>
              <a:t>: Asinkroni rad, visoka propusnost i automatski generirana </a:t>
            </a:r>
            <a:r>
              <a:rPr lang="hr-HR" dirty="0" err="1" smtClean="0"/>
              <a:t>Swagger</a:t>
            </a:r>
            <a:r>
              <a:rPr lang="hr-HR" dirty="0" smtClean="0"/>
              <a:t> dokumentacija.</a:t>
            </a:r>
          </a:p>
          <a:p>
            <a:r>
              <a:rPr lang="hr-HR" dirty="0" smtClean="0"/>
              <a:t>Sistemske upute (System </a:t>
            </a:r>
            <a:r>
              <a:rPr lang="hr-HR" dirty="0" err="1" smtClean="0"/>
              <a:t>Prompt</a:t>
            </a:r>
            <a:r>
              <a:rPr lang="hr-HR" dirty="0" smtClean="0"/>
              <a:t>): Definiranje ponašanja modela - usmjeravanje da odgovara isključivo na temelju priloženog pravnog okvira uz smanjenje rizika od izmišljanja činjenica, te propisivanje standardnog odgovora u slučaju nedostatka informacija.</a:t>
            </a:r>
          </a:p>
          <a:p>
            <a:r>
              <a:rPr lang="hr-HR" dirty="0" smtClean="0"/>
              <a:t>Upravljanje sesijama: Korištenje </a:t>
            </a:r>
            <a:r>
              <a:rPr lang="hr-HR" dirty="0" err="1" smtClean="0"/>
              <a:t>SQLite</a:t>
            </a:r>
            <a:r>
              <a:rPr lang="hr-HR" dirty="0" smtClean="0"/>
              <a:t> baze za spremanje početnih upita, čime se omogućuje </a:t>
            </a:r>
            <a:r>
              <a:rPr lang="hr-HR" dirty="0" err="1" smtClean="0"/>
              <a:t>perzistencija</a:t>
            </a:r>
            <a:r>
              <a:rPr lang="hr-HR" dirty="0" smtClean="0"/>
              <a:t> i osnovni prikaz naziva prijašnjih razgovora (prvog pitanja) u bočnoj traci sučelja.</a:t>
            </a:r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183" y="6048941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6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smtClean="0"/>
              <a:t>6. Implementacija </a:t>
            </a:r>
            <a:r>
              <a:rPr lang="hr-HR" b="1" dirty="0" err="1" smtClean="0"/>
              <a:t>Frontenda</a:t>
            </a:r>
            <a:r>
              <a:rPr lang="hr-HR" b="1" dirty="0" smtClean="0"/>
              <a:t> (Korisničko sučelje)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Moderan prikaz chata razvijen u </a:t>
            </a:r>
            <a:r>
              <a:rPr lang="hr-HR" dirty="0" err="1" smtClean="0"/>
              <a:t>Reactu</a:t>
            </a:r>
            <a:endParaRPr lang="hr-HR" dirty="0" smtClean="0"/>
          </a:p>
          <a:p>
            <a:r>
              <a:rPr lang="hr-HR" dirty="0" smtClean="0"/>
              <a:t>Asinkrona komunikacija: Implementiran vizualni indikator obrade upita ("AI razmišlja...") tijekom čekanja odgovora s </a:t>
            </a:r>
            <a:r>
              <a:rPr lang="hr-HR" dirty="0" err="1" smtClean="0"/>
              <a:t>backenda</a:t>
            </a:r>
            <a:r>
              <a:rPr lang="hr-HR" dirty="0" smtClean="0"/>
              <a:t>.</a:t>
            </a:r>
          </a:p>
          <a:p>
            <a:r>
              <a:rPr lang="hr-HR" dirty="0" smtClean="0"/>
              <a:t>Interaktivne kartice izvora: Korištenje sklopive harmonike (</a:t>
            </a:r>
            <a:r>
              <a:rPr lang="hr-HR" dirty="0" err="1" smtClean="0"/>
              <a:t>accordion</a:t>
            </a:r>
            <a:r>
              <a:rPr lang="hr-HR" dirty="0" smtClean="0"/>
              <a:t>) kojom korisnik može pregledati izvorni tekst članka zakona</a:t>
            </a:r>
          </a:p>
          <a:p>
            <a:r>
              <a:rPr lang="hr-HR" dirty="0" smtClean="0"/>
              <a:t>Upravljanje stanjem i sesijama: Dinamičko iscrtavanje spremljenih razgovora u bočnoj traci uz sigurnu kontrolu događaja (event </a:t>
            </a:r>
            <a:r>
              <a:rPr lang="hr-HR" dirty="0" err="1" smtClean="0"/>
              <a:t>bubbling</a:t>
            </a:r>
            <a:r>
              <a:rPr lang="hr-HR" dirty="0" smtClean="0"/>
              <a:t>).</a:t>
            </a:r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7" y="5982266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83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smtClean="0"/>
              <a:t>7. </a:t>
            </a:r>
            <a:r>
              <a:rPr lang="hr-HR" b="1" dirty="0" err="1" smtClean="0"/>
              <a:t>Kontejnerizacija</a:t>
            </a:r>
            <a:r>
              <a:rPr lang="hr-HR" b="1" dirty="0" smtClean="0"/>
              <a:t> (</a:t>
            </a:r>
            <a:r>
              <a:rPr lang="hr-HR" b="1" dirty="0" err="1" smtClean="0"/>
              <a:t>Docker</a:t>
            </a:r>
            <a:r>
              <a:rPr lang="hr-HR" b="1" dirty="0" smtClean="0"/>
              <a:t>)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Kako je riješen problem "radi na mom računalu"?</a:t>
            </a:r>
          </a:p>
          <a:p>
            <a:r>
              <a:rPr lang="hr-HR" dirty="0" err="1" smtClean="0"/>
              <a:t>Docker</a:t>
            </a:r>
            <a:r>
              <a:rPr lang="hr-HR" dirty="0" smtClean="0"/>
              <a:t> okruženje: Izvršavanje i pokretanje aplikacije unutar izoliranih kontejnera za </a:t>
            </a:r>
            <a:r>
              <a:rPr lang="hr-HR" dirty="0" err="1" smtClean="0"/>
              <a:t>FastAPI</a:t>
            </a:r>
            <a:r>
              <a:rPr lang="hr-HR" dirty="0" smtClean="0"/>
              <a:t> </a:t>
            </a:r>
            <a:r>
              <a:rPr lang="hr-HR" dirty="0" err="1" smtClean="0"/>
              <a:t>backend</a:t>
            </a:r>
            <a:r>
              <a:rPr lang="hr-HR" dirty="0" smtClean="0"/>
              <a:t> i </a:t>
            </a:r>
            <a:r>
              <a:rPr lang="hr-HR" dirty="0" err="1" smtClean="0"/>
              <a:t>React</a:t>
            </a:r>
            <a:r>
              <a:rPr lang="hr-HR" dirty="0" smtClean="0"/>
              <a:t> </a:t>
            </a:r>
            <a:r>
              <a:rPr lang="hr-HR" dirty="0" err="1" smtClean="0"/>
              <a:t>frontend</a:t>
            </a:r>
            <a:r>
              <a:rPr lang="hr-HR" dirty="0" smtClean="0"/>
              <a:t>.</a:t>
            </a:r>
          </a:p>
          <a:p>
            <a:r>
              <a:rPr lang="hr-HR" dirty="0" err="1" smtClean="0"/>
              <a:t>Perzistencija</a:t>
            </a:r>
            <a:r>
              <a:rPr lang="hr-HR" dirty="0" smtClean="0"/>
              <a:t> podataka: Korištenje trajno </a:t>
            </a:r>
            <a:r>
              <a:rPr lang="hr-HR" dirty="0" err="1" smtClean="0"/>
              <a:t>mapiranih</a:t>
            </a:r>
            <a:r>
              <a:rPr lang="hr-HR" dirty="0" smtClean="0"/>
              <a:t> volumena (</a:t>
            </a:r>
            <a:r>
              <a:rPr lang="hr-HR" dirty="0" err="1" smtClean="0"/>
              <a:t>chroma_storage</a:t>
            </a:r>
            <a:r>
              <a:rPr lang="hr-HR" dirty="0" smtClean="0"/>
              <a:t> i </a:t>
            </a:r>
            <a:r>
              <a:rPr lang="hr-HR" dirty="0" err="1" smtClean="0"/>
              <a:t>baza.db</a:t>
            </a:r>
            <a:r>
              <a:rPr lang="hr-HR" dirty="0" smtClean="0"/>
              <a:t>) čime se osigurava da podaci i vektorska baza ostaju sačuvani nakon gašenja kontejnera.</a:t>
            </a:r>
            <a:endParaRPr lang="hr-H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758" y="5994583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657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smtClean="0"/>
              <a:t>8. Testiranje i evaluacija sustava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Evaluacija provedena na testnom skupu od 60 upita (činjenični upiti, složena semantička sinteza, upiti izvan domene):</a:t>
            </a:r>
          </a:p>
          <a:p>
            <a:r>
              <a:rPr lang="hr-HR" dirty="0" smtClean="0"/>
              <a:t>Ključni rezultati:</a:t>
            </a:r>
          </a:p>
          <a:p>
            <a:pPr lvl="1"/>
            <a:r>
              <a:rPr lang="hr-HR" dirty="0" smtClean="0"/>
              <a:t>Dohvaćanje: Ostvaren odziv (Recall@9) od 67.9% uz srednju recipročnu vrijednost ranga (MRR) od 0.4168.</a:t>
            </a:r>
          </a:p>
          <a:p>
            <a:pPr lvl="1"/>
            <a:r>
              <a:rPr lang="hr-HR" dirty="0" smtClean="0"/>
              <a:t>Generiranje: Ljudsko vrednovanje potvrdilo je visoku utemeljenost odgovora (prosječna ocjena 1.8 od 2) u odnosu na osnovicu bez RAG-a.</a:t>
            </a:r>
          </a:p>
          <a:p>
            <a:pPr lvl="1"/>
            <a:r>
              <a:rPr lang="hr-HR" dirty="0" smtClean="0"/>
              <a:t>Otpornost: Relativno uspješno prepoznavanje i odbijanje pitanja izvan domene.</a:t>
            </a:r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0841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14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smtClean="0"/>
              <a:t>8.1. Prikaz rezultata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1. Dohvaćanje:</a:t>
            </a:r>
          </a:p>
          <a:p>
            <a:endParaRPr lang="hr-HR" dirty="0"/>
          </a:p>
          <a:p>
            <a:endParaRPr lang="hr-H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618" y="2917766"/>
            <a:ext cx="7590764" cy="18703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858" y="6026301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3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smtClean="0"/>
              <a:t>8.1. Prikaz rezultata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2. Generiranje:</a:t>
            </a:r>
          </a:p>
          <a:p>
            <a:endParaRPr lang="hr-H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244" y="2857010"/>
            <a:ext cx="7113512" cy="22885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0841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7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smtClean="0"/>
              <a:t>8.1. Prikaz rezultata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3. otpornost:</a:t>
            </a:r>
          </a:p>
          <a:p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764" y="2692038"/>
            <a:ext cx="8049976" cy="26185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0740" y="6058466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9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/>
              <a:t>8.1. Prikaz rezultata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4. Performanse sustava:</a:t>
            </a:r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21" y="2924014"/>
            <a:ext cx="7545172" cy="28429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3" y="6052343"/>
            <a:ext cx="1767993" cy="72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3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smtClean="0"/>
              <a:t>9. Demonstracija rada sustava </a:t>
            </a:r>
            <a:r>
              <a:rPr lang="hr-HR" b="1" dirty="0" smtClean="0"/>
              <a:t>(</a:t>
            </a:r>
            <a:r>
              <a:rPr lang="hr-HR" b="1" dirty="0" err="1" smtClean="0"/>
              <a:t>Screenshotovi</a:t>
            </a:r>
            <a:r>
              <a:rPr lang="hr-HR" b="1" dirty="0" smtClean="0"/>
              <a:t>)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1. Primjer postavljanja upita uz generirani odgovor:</a:t>
            </a:r>
          </a:p>
          <a:p>
            <a:endParaRPr lang="hr-HR" dirty="0"/>
          </a:p>
          <a:p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166" y="2502131"/>
            <a:ext cx="7295668" cy="346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38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/>
              <a:t>9. Demonstracija rada sustava (</a:t>
            </a:r>
            <a:r>
              <a:rPr lang="hr-HR" b="1" dirty="0" err="1"/>
              <a:t>Screenshotovi</a:t>
            </a:r>
            <a:r>
              <a:rPr lang="hr-HR" b="1" dirty="0"/>
              <a:t>)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2</a:t>
            </a:r>
            <a:r>
              <a:rPr lang="hr-HR" dirty="0" smtClean="0"/>
              <a:t>. Prikaz povijesti:</a:t>
            </a:r>
          </a:p>
          <a:p>
            <a:endParaRPr lang="hr-HR" dirty="0"/>
          </a:p>
          <a:p>
            <a:endParaRPr lang="hr-HR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730446" y="2417946"/>
            <a:ext cx="2731107" cy="37590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0841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75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/>
              <a:t>9. Demonstracija rada sustava (</a:t>
            </a:r>
            <a:r>
              <a:rPr lang="hr-HR" b="1" dirty="0" err="1"/>
              <a:t>Screenshotovi</a:t>
            </a:r>
            <a:r>
              <a:rPr lang="hr-HR" b="1" dirty="0"/>
              <a:t>)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3. Prikaz ponašanja sustava na upite izvan domene:</a:t>
            </a:r>
          </a:p>
          <a:p>
            <a:endParaRPr lang="hr-HR" dirty="0"/>
          </a:p>
          <a:p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730" y="2682441"/>
            <a:ext cx="6896540" cy="32694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417" y="5951913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6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smtClean="0"/>
              <a:t>10. Zaključak i budući rad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r-HR" dirty="0" smtClean="0"/>
              <a:t>Uspješno razvijen i </a:t>
            </a:r>
            <a:r>
              <a:rPr lang="hr-HR" dirty="0" err="1" smtClean="0"/>
              <a:t>kontejneriziran</a:t>
            </a:r>
            <a:r>
              <a:rPr lang="hr-HR" dirty="0" smtClean="0"/>
              <a:t> </a:t>
            </a:r>
            <a:r>
              <a:rPr lang="hr-HR" dirty="0" err="1" smtClean="0"/>
              <a:t>PoC</a:t>
            </a:r>
            <a:r>
              <a:rPr lang="hr-HR" dirty="0" smtClean="0"/>
              <a:t> sustav koji dokazuje isplativost primjene RAG arhitekture u pravnoj domeni, spajajući preciznost vektorskog pretraživanja i tečnost jezičnih modela.</a:t>
            </a:r>
          </a:p>
          <a:p>
            <a:r>
              <a:rPr lang="hr-HR" dirty="0" smtClean="0"/>
              <a:t>Budući rad (Smjernice za unaprjeđenje):</a:t>
            </a:r>
          </a:p>
          <a:p>
            <a:pPr lvl="1"/>
            <a:r>
              <a:rPr lang="hr-HR" dirty="0" smtClean="0"/>
              <a:t>Optimizacija dohvaćanja i rangiranja: </a:t>
            </a:r>
          </a:p>
          <a:p>
            <a:pPr lvl="2"/>
            <a:r>
              <a:rPr lang="hr-HR" dirty="0" smtClean="0"/>
              <a:t>Prilagodba </a:t>
            </a:r>
            <a:r>
              <a:rPr lang="hr-HR" dirty="0" err="1" smtClean="0"/>
              <a:t>chunkinga</a:t>
            </a:r>
            <a:r>
              <a:rPr lang="hr-HR" dirty="0" smtClean="0"/>
              <a:t> na razinu semantičkih cjelina.</a:t>
            </a:r>
          </a:p>
          <a:p>
            <a:pPr lvl="2"/>
            <a:r>
              <a:rPr lang="hr-HR" dirty="0" smtClean="0"/>
              <a:t>Uvođenje naprednijih ugrađenih modela s većim kontekstualnim prozorom.</a:t>
            </a:r>
          </a:p>
          <a:p>
            <a:pPr lvl="1"/>
            <a:r>
              <a:rPr lang="hr-HR" dirty="0" smtClean="0"/>
              <a:t>Poboljšanje preciznosti (</a:t>
            </a:r>
            <a:r>
              <a:rPr lang="hr-HR" i="1" dirty="0" err="1" smtClean="0"/>
              <a:t>Precision</a:t>
            </a:r>
            <a:r>
              <a:rPr lang="hr-HR" i="1" dirty="0" smtClean="0"/>
              <a:t> &amp; MRR</a:t>
            </a:r>
            <a:r>
              <a:rPr lang="hr-HR" dirty="0" smtClean="0"/>
              <a:t>):</a:t>
            </a:r>
          </a:p>
          <a:p>
            <a:pPr lvl="2"/>
            <a:r>
              <a:rPr lang="hr-HR" dirty="0" smtClean="0"/>
              <a:t>Implementacija </a:t>
            </a:r>
            <a:r>
              <a:rPr lang="hr-HR" dirty="0" err="1" smtClean="0"/>
              <a:t>cross-encoder</a:t>
            </a:r>
            <a:r>
              <a:rPr lang="hr-HR" dirty="0" smtClean="0"/>
              <a:t> modela za naknadno rangiranje (</a:t>
            </a:r>
            <a:r>
              <a:rPr lang="hr-HR" dirty="0" err="1" smtClean="0"/>
              <a:t>re-ranking</a:t>
            </a:r>
            <a:r>
              <a:rPr lang="hr-HR" dirty="0" smtClean="0"/>
              <a:t>).</a:t>
            </a:r>
          </a:p>
          <a:p>
            <a:pPr lvl="2"/>
            <a:r>
              <a:rPr lang="hr-HR" dirty="0"/>
              <a:t>P</a:t>
            </a:r>
            <a:r>
              <a:rPr lang="hr-HR" dirty="0" smtClean="0"/>
              <a:t>rimjena </a:t>
            </a:r>
            <a:r>
              <a:rPr lang="hr-HR" dirty="0" err="1" smtClean="0"/>
              <a:t>metapodatkovnog</a:t>
            </a:r>
            <a:r>
              <a:rPr lang="hr-HR" dirty="0" smtClean="0"/>
              <a:t> filtriranja i </a:t>
            </a:r>
            <a:r>
              <a:rPr lang="hr-HR" dirty="0" err="1" smtClean="0"/>
              <a:t>HyDE</a:t>
            </a:r>
            <a:r>
              <a:rPr lang="hr-HR" dirty="0" smtClean="0"/>
              <a:t> tehnike za premošćivanje semantičkog jaza.</a:t>
            </a:r>
          </a:p>
          <a:p>
            <a:pPr lvl="1"/>
            <a:r>
              <a:rPr lang="hr-HR" dirty="0"/>
              <a:t>Skaliranje i pravna </a:t>
            </a:r>
            <a:r>
              <a:rPr lang="hr-HR" dirty="0" smtClean="0"/>
              <a:t>validacija</a:t>
            </a:r>
            <a:r>
              <a:rPr lang="hr-HR" dirty="0" smtClean="0">
                <a:solidFill>
                  <a:prstClr val="black"/>
                </a:solidFill>
              </a:rPr>
              <a:t>.</a:t>
            </a:r>
            <a:endParaRPr lang="hr-HR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4666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2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smtClean="0"/>
              <a:t>Literatura</a:t>
            </a:r>
            <a:endParaRPr lang="hr-H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hr-HR" dirty="0" smtClean="0"/>
              <a:t>P. Lewis i dr., ˝</a:t>
            </a:r>
            <a:r>
              <a:rPr lang="hr-HR" dirty="0" err="1" smtClean="0"/>
              <a:t>Retrieval-Augmented</a:t>
            </a:r>
            <a:r>
              <a:rPr lang="hr-HR" dirty="0" smtClean="0"/>
              <a:t> </a:t>
            </a:r>
            <a:r>
              <a:rPr lang="hr-HR" dirty="0" err="1" smtClean="0"/>
              <a:t>Generation</a:t>
            </a:r>
            <a:r>
              <a:rPr lang="hr-HR" dirty="0" smtClean="0"/>
              <a:t> for </a:t>
            </a:r>
            <a:r>
              <a:rPr lang="hr-HR" dirty="0" err="1" smtClean="0"/>
              <a:t>Knowledge-Intensive</a:t>
            </a:r>
            <a:r>
              <a:rPr lang="hr-HR" dirty="0" smtClean="0"/>
              <a:t> NLP </a:t>
            </a:r>
            <a:r>
              <a:rPr lang="hr-HR" dirty="0" err="1" smtClean="0"/>
              <a:t>Tasks</a:t>
            </a:r>
            <a:r>
              <a:rPr lang="hr-HR" dirty="0" smtClean="0"/>
              <a:t>˝, u </a:t>
            </a:r>
            <a:r>
              <a:rPr lang="hr-HR" dirty="0" err="1" smtClean="0"/>
              <a:t>Advances</a:t>
            </a:r>
            <a:r>
              <a:rPr lang="hr-HR" dirty="0" smtClean="0"/>
              <a:t> </a:t>
            </a:r>
            <a:r>
              <a:rPr lang="hr-HR" dirty="0" err="1" smtClean="0"/>
              <a:t>in</a:t>
            </a:r>
            <a:r>
              <a:rPr lang="hr-HR" dirty="0" smtClean="0"/>
              <a:t> </a:t>
            </a:r>
            <a:r>
              <a:rPr lang="hr-HR" dirty="0" err="1" smtClean="0"/>
              <a:t>Neural</a:t>
            </a:r>
            <a:r>
              <a:rPr lang="hr-HR" dirty="0" smtClean="0"/>
              <a:t> </a:t>
            </a:r>
            <a:r>
              <a:rPr lang="hr-HR" dirty="0" err="1" smtClean="0"/>
              <a:t>Information</a:t>
            </a:r>
            <a:r>
              <a:rPr lang="hr-HR" dirty="0" smtClean="0"/>
              <a:t> Processing Systems (</a:t>
            </a:r>
            <a:r>
              <a:rPr lang="hr-HR" dirty="0" err="1" smtClean="0"/>
              <a:t>NeurIPS</a:t>
            </a:r>
            <a:r>
              <a:rPr lang="hr-HR" dirty="0" smtClean="0"/>
              <a:t>), sv. 33, 2020., str. 9459–9474.</a:t>
            </a:r>
          </a:p>
          <a:p>
            <a:r>
              <a:rPr lang="en-US" dirty="0" smtClean="0"/>
              <a:t>Naveed, H. </a:t>
            </a:r>
            <a:r>
              <a:rPr lang="en-US" dirty="0" err="1" smtClean="0"/>
              <a:t>i</a:t>
            </a:r>
            <a:r>
              <a:rPr lang="en-US" dirty="0" smtClean="0"/>
              <a:t> dr.: "A Comprehensive Overview of Large Language Models", ACM Computing Surveys, Vol. 56, No. 11, pp. 1-46, New York, 2024.</a:t>
            </a:r>
            <a:endParaRPr lang="hr-HR" dirty="0" smtClean="0"/>
          </a:p>
          <a:p>
            <a:r>
              <a:rPr lang="hr-HR" dirty="0"/>
              <a:t>NVIDIA: "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a </a:t>
            </a:r>
            <a:r>
              <a:rPr lang="hr-HR" dirty="0" err="1"/>
              <a:t>Large</a:t>
            </a:r>
            <a:r>
              <a:rPr lang="hr-HR" dirty="0"/>
              <a:t> </a:t>
            </a:r>
            <a:r>
              <a:rPr lang="hr-HR" dirty="0" err="1"/>
              <a:t>Language</a:t>
            </a:r>
            <a:r>
              <a:rPr lang="hr-HR" dirty="0"/>
              <a:t> Model (LLM)?", s Interneta, https://www.nvidia.com/en-us/glossary/large-language-models/, lipanj 2026</a:t>
            </a:r>
            <a:r>
              <a:rPr lang="hr-HR" dirty="0" smtClean="0"/>
              <a:t>.</a:t>
            </a:r>
          </a:p>
          <a:p>
            <a:r>
              <a:rPr lang="hr-HR" dirty="0" err="1"/>
              <a:t>Krantz</a:t>
            </a:r>
            <a:r>
              <a:rPr lang="hr-HR" dirty="0"/>
              <a:t>, T.; </a:t>
            </a:r>
            <a:r>
              <a:rPr lang="hr-HR" dirty="0" err="1"/>
              <a:t>Holdsworth</a:t>
            </a:r>
            <a:r>
              <a:rPr lang="hr-HR" dirty="0"/>
              <a:t>, J.; </a:t>
            </a:r>
            <a:r>
              <a:rPr lang="hr-HR" dirty="0" err="1"/>
              <a:t>Kosinski</a:t>
            </a:r>
            <a:r>
              <a:rPr lang="hr-HR" dirty="0"/>
              <a:t>, M.: "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a </a:t>
            </a:r>
            <a:r>
              <a:rPr lang="hr-HR" dirty="0" err="1"/>
              <a:t>vector</a:t>
            </a:r>
            <a:r>
              <a:rPr lang="hr-HR" dirty="0"/>
              <a:t> </a:t>
            </a:r>
            <a:r>
              <a:rPr lang="hr-HR" dirty="0" err="1"/>
              <a:t>database</a:t>
            </a:r>
            <a:r>
              <a:rPr lang="hr-HR" dirty="0"/>
              <a:t>?", s Interneta, https://www.ibm.com/think/topics/vector-database, lipanj 2026</a:t>
            </a:r>
            <a:r>
              <a:rPr lang="hr-HR" dirty="0" smtClean="0"/>
              <a:t>.</a:t>
            </a:r>
          </a:p>
          <a:p>
            <a:r>
              <a:rPr lang="hr-HR" dirty="0" err="1"/>
              <a:t>Belcic</a:t>
            </a:r>
            <a:r>
              <a:rPr lang="hr-HR" dirty="0"/>
              <a:t>, I.: "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retrieval</a:t>
            </a:r>
            <a:r>
              <a:rPr lang="hr-HR" dirty="0"/>
              <a:t> </a:t>
            </a:r>
            <a:r>
              <a:rPr lang="hr-HR" dirty="0" err="1"/>
              <a:t>augmented</a:t>
            </a:r>
            <a:r>
              <a:rPr lang="hr-HR" dirty="0"/>
              <a:t> </a:t>
            </a:r>
            <a:r>
              <a:rPr lang="hr-HR" dirty="0" err="1"/>
              <a:t>generation</a:t>
            </a:r>
            <a:r>
              <a:rPr lang="hr-HR" dirty="0"/>
              <a:t> (RAG)?", s Interneta, https://www.ibm.com/think/topics/retrieval-augmented-generation, lipanj 2026.</a:t>
            </a:r>
          </a:p>
          <a:p>
            <a:r>
              <a:rPr lang="hr-HR" dirty="0" err="1"/>
              <a:t>Chroma</a:t>
            </a:r>
            <a:r>
              <a:rPr lang="hr-HR" dirty="0"/>
              <a:t> </a:t>
            </a:r>
            <a:r>
              <a:rPr lang="hr-HR" dirty="0" err="1"/>
              <a:t>Docs</a:t>
            </a:r>
            <a:r>
              <a:rPr lang="hr-HR" dirty="0"/>
              <a:t>: "Sentence </a:t>
            </a:r>
            <a:r>
              <a:rPr lang="hr-HR" dirty="0" err="1"/>
              <a:t>Transformers</a:t>
            </a:r>
            <a:r>
              <a:rPr lang="hr-HR" dirty="0"/>
              <a:t> </a:t>
            </a:r>
            <a:r>
              <a:rPr lang="hr-HR" dirty="0" err="1"/>
              <a:t>Integration</a:t>
            </a:r>
            <a:r>
              <a:rPr lang="hr-HR" dirty="0"/>
              <a:t>", s Interneta, https://docs.trychroma.com/integrations/embedding-models/sentence-transformer, travanj 2026.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9325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97801" y="2016159"/>
            <a:ext cx="8825657" cy="1915647"/>
          </a:xfrm>
        </p:spPr>
        <p:txBody>
          <a:bodyPr/>
          <a:lstStyle/>
          <a:p>
            <a:pPr algn="ctr"/>
            <a:r>
              <a:rPr lang="hr-HR" b="1" dirty="0" smtClean="0"/>
              <a:t>Hvala na pažnji</a:t>
            </a:r>
            <a:r>
              <a:rPr lang="hr-HR" b="1" dirty="0" smtClean="0"/>
              <a:t>! 😊</a:t>
            </a:r>
            <a:endParaRPr lang="hr-HR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958" y="5991791"/>
            <a:ext cx="1768542" cy="7233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3" y="0"/>
            <a:ext cx="1768542" cy="7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64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456</TotalTime>
  <Words>1055</Words>
  <Application>Microsoft Office PowerPoint</Application>
  <PresentationFormat>Widescreen</PresentationFormat>
  <Paragraphs>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Ion</vt:lpstr>
      <vt:lpstr>AI sustav za semantičko pretraživanje zakonskih tekstova</vt:lpstr>
      <vt:lpstr>Motivacija i problem</vt:lpstr>
      <vt:lpstr>2. Temeljne tehnologije i alati</vt:lpstr>
      <vt:lpstr>3. Arhiektura sustava (RAG koncept)</vt:lpstr>
      <vt:lpstr>3.1. Konceptualna arhitektura i tok podataka</vt:lpstr>
      <vt:lpstr>4. Priprema podataka i obrada pravnog korpusa (Ingestion)</vt:lpstr>
      <vt:lpstr>5. Implementacija backenda i usmjeravanje modela (Prompt Engineering)</vt:lpstr>
      <vt:lpstr>6. Implementacija Frontenda (Korisničko sučelje)</vt:lpstr>
      <vt:lpstr>7. Kontejnerizacija (Docker)</vt:lpstr>
      <vt:lpstr>8. Testiranje i evaluacija sustava</vt:lpstr>
      <vt:lpstr>8.1. Prikaz rezultata</vt:lpstr>
      <vt:lpstr>8.1. Prikaz rezultata</vt:lpstr>
      <vt:lpstr>8.1. Prikaz rezultata</vt:lpstr>
      <vt:lpstr>8.1. Prikaz rezultata</vt:lpstr>
      <vt:lpstr>9. Demonstracija rada sustava (Screenshotovi)</vt:lpstr>
      <vt:lpstr>9. Demonstracija rada sustava (Screenshotovi)</vt:lpstr>
      <vt:lpstr>9. Demonstracija rada sustava (Screenshotovi)</vt:lpstr>
      <vt:lpstr>10. Zaključak i budući rad</vt:lpstr>
      <vt:lpstr>Literatura</vt:lpstr>
      <vt:lpstr>Hvala na pažnji! 😊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sustav za semantičko pretraživanje zakonskih tekstova</dc:title>
  <dc:creator>Microsoft account</dc:creator>
  <cp:lastModifiedBy>Microsoft account</cp:lastModifiedBy>
  <cp:revision>26</cp:revision>
  <dcterms:created xsi:type="dcterms:W3CDTF">2026-07-20T23:44:03Z</dcterms:created>
  <dcterms:modified xsi:type="dcterms:W3CDTF">2026-07-22T02:06:21Z</dcterms:modified>
</cp:coreProperties>
</file>